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Montaser Arabic Bold" charset="1" panose="00000800000000000000"/>
      <p:regular r:id="rId28"/>
    </p:embeddedFont>
    <p:embeddedFont>
      <p:font typeface="Montserrat" charset="1" panose="00000500000000000000"/>
      <p:regular r:id="rId29"/>
    </p:embeddedFont>
    <p:embeddedFont>
      <p:font typeface="Montaser Arabic" charset="1" panose="00000500000000000000"/>
      <p:regular r:id="rId30"/>
    </p:embeddedFont>
    <p:embeddedFont>
      <p:font typeface="Montserrat Bold" charset="1" panose="00000800000000000000"/>
      <p:regular r:id="rId31"/>
    </p:embeddedFont>
    <p:embeddedFont>
      <p:font typeface="Montserrat Semi-Bold" charset="1" panose="000007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embeddings/oleObject2.bin" Type="http://schemas.openxmlformats.org/officeDocument/2006/relationships/oleObject"/><Relationship Id="rId4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embeddings/oleObject3.bin" Type="http://schemas.openxmlformats.org/officeDocument/2006/relationships/oleObject"/><Relationship Id="rId4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99009"/>
            <a:ext cx="10664885" cy="1666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52"/>
              </a:lnSpc>
              <a:spcBef>
                <a:spcPct val="0"/>
              </a:spcBef>
            </a:pPr>
            <a:r>
              <a:rPr lang="en-US" b="true" sz="9751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GALUGAS.WEB</a:t>
            </a:r>
          </a:p>
        </p:txBody>
      </p:sp>
      <p:grpSp>
        <p:nvGrpSpPr>
          <p:cNvPr name="Group 3" id="3"/>
          <p:cNvGrpSpPr/>
          <p:nvPr/>
        </p:nvGrpSpPr>
        <p:grpSpPr>
          <a:xfrm rot="-2700000">
            <a:off x="10301945" y="-6331643"/>
            <a:ext cx="7864532" cy="15138644"/>
            <a:chOff x="0" y="0"/>
            <a:chExt cx="2071317" cy="39871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1317" cy="3987133"/>
            </a:xfrm>
            <a:custGeom>
              <a:avLst/>
              <a:gdLst/>
              <a:ahLst/>
              <a:cxnLst/>
              <a:rect r="r" b="b" t="t" l="l"/>
              <a:pathLst>
                <a:path h="3987133" w="2071317">
                  <a:moveTo>
                    <a:pt x="0" y="0"/>
                  </a:moveTo>
                  <a:lnTo>
                    <a:pt x="2071317" y="0"/>
                  </a:lnTo>
                  <a:lnTo>
                    <a:pt x="2071317" y="3987133"/>
                  </a:lnTo>
                  <a:lnTo>
                    <a:pt x="0" y="39871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71317" cy="402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6774782" y="6226984"/>
            <a:ext cx="11821212" cy="5007895"/>
          </a:xfrm>
          <a:custGeom>
            <a:avLst/>
            <a:gdLst/>
            <a:ahLst/>
            <a:cxnLst/>
            <a:rect r="r" b="b" t="t" l="l"/>
            <a:pathLst>
              <a:path h="5007895" w="11821212">
                <a:moveTo>
                  <a:pt x="11821212" y="0"/>
                </a:moveTo>
                <a:lnTo>
                  <a:pt x="0" y="0"/>
                </a:lnTo>
                <a:lnTo>
                  <a:pt x="0" y="5007895"/>
                </a:lnTo>
                <a:lnTo>
                  <a:pt x="11821212" y="5007895"/>
                </a:lnTo>
                <a:lnTo>
                  <a:pt x="11821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10800000">
            <a:off x="1060530" y="7620440"/>
            <a:ext cx="3748433" cy="600496"/>
          </a:xfrm>
          <a:custGeom>
            <a:avLst/>
            <a:gdLst/>
            <a:ahLst/>
            <a:cxnLst/>
            <a:rect r="r" b="b" t="t" l="l"/>
            <a:pathLst>
              <a:path h="600496" w="3748433">
                <a:moveTo>
                  <a:pt x="0" y="0"/>
                </a:moveTo>
                <a:lnTo>
                  <a:pt x="3748432" y="0"/>
                </a:lnTo>
                <a:lnTo>
                  <a:pt x="3748432" y="600496"/>
                </a:lnTo>
                <a:lnTo>
                  <a:pt x="0" y="600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-79464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7147233"/>
            <a:ext cx="3780262" cy="629045"/>
            <a:chOff x="0" y="0"/>
            <a:chExt cx="995625" cy="1656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5625" cy="165675"/>
            </a:xfrm>
            <a:custGeom>
              <a:avLst/>
              <a:gdLst/>
              <a:ahLst/>
              <a:cxnLst/>
              <a:rect r="r" b="b" t="t" l="l"/>
              <a:pathLst>
                <a:path h="165675" w="995625">
                  <a:moveTo>
                    <a:pt x="82837" y="0"/>
                  </a:moveTo>
                  <a:lnTo>
                    <a:pt x="912787" y="0"/>
                  </a:lnTo>
                  <a:cubicBezTo>
                    <a:pt x="934757" y="0"/>
                    <a:pt x="955827" y="8727"/>
                    <a:pt x="971362" y="24262"/>
                  </a:cubicBezTo>
                  <a:cubicBezTo>
                    <a:pt x="986897" y="39797"/>
                    <a:pt x="995625" y="60867"/>
                    <a:pt x="995625" y="82837"/>
                  </a:cubicBezTo>
                  <a:lnTo>
                    <a:pt x="995625" y="82837"/>
                  </a:lnTo>
                  <a:cubicBezTo>
                    <a:pt x="995625" y="104807"/>
                    <a:pt x="986897" y="125877"/>
                    <a:pt x="971362" y="141412"/>
                  </a:cubicBezTo>
                  <a:cubicBezTo>
                    <a:pt x="955827" y="156947"/>
                    <a:pt x="934757" y="165675"/>
                    <a:pt x="912787" y="165675"/>
                  </a:cubicBezTo>
                  <a:lnTo>
                    <a:pt x="82837" y="165675"/>
                  </a:lnTo>
                  <a:cubicBezTo>
                    <a:pt x="60867" y="165675"/>
                    <a:pt x="39797" y="156947"/>
                    <a:pt x="24262" y="141412"/>
                  </a:cubicBezTo>
                  <a:cubicBezTo>
                    <a:pt x="8727" y="125877"/>
                    <a:pt x="0" y="104807"/>
                    <a:pt x="0" y="82837"/>
                  </a:cubicBezTo>
                  <a:lnTo>
                    <a:pt x="0" y="82837"/>
                  </a:lnTo>
                  <a:cubicBezTo>
                    <a:pt x="0" y="60867"/>
                    <a:pt x="8727" y="39797"/>
                    <a:pt x="24262" y="24262"/>
                  </a:cubicBezTo>
                  <a:cubicBezTo>
                    <a:pt x="39797" y="8727"/>
                    <a:pt x="60867" y="0"/>
                    <a:pt x="82837" y="0"/>
                  </a:cubicBezTo>
                  <a:close/>
                </a:path>
              </a:pathLst>
            </a:custGeom>
            <a:solidFill>
              <a:srgbClr val="095D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95625" cy="175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420"/>
                </a:lnSpc>
                <a:spcBef>
                  <a:spcPct val="0"/>
                </a:spcBef>
              </a:pPr>
              <a:r>
                <a:rPr lang="en-US" sz="1968" spc="78">
                  <a:solidFill>
                    <a:srgbClr val="F4F4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  Administración - S5Z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04085" y="7272994"/>
            <a:ext cx="390588" cy="386327"/>
          </a:xfrm>
          <a:custGeom>
            <a:avLst/>
            <a:gdLst/>
            <a:ahLst/>
            <a:cxnLst/>
            <a:rect r="r" b="b" t="t" l="l"/>
            <a:pathLst>
              <a:path h="386327" w="390588">
                <a:moveTo>
                  <a:pt x="0" y="0"/>
                </a:moveTo>
                <a:lnTo>
                  <a:pt x="390588" y="0"/>
                </a:lnTo>
                <a:lnTo>
                  <a:pt x="390588" y="386327"/>
                </a:lnTo>
                <a:lnTo>
                  <a:pt x="0" y="3863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2700000">
            <a:off x="-5458679" y="4764810"/>
            <a:ext cx="7864532" cy="15138644"/>
            <a:chOff x="0" y="0"/>
            <a:chExt cx="2071317" cy="39871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71317" cy="3987133"/>
            </a:xfrm>
            <a:custGeom>
              <a:avLst/>
              <a:gdLst/>
              <a:ahLst/>
              <a:cxnLst/>
              <a:rect r="r" b="b" t="t" l="l"/>
              <a:pathLst>
                <a:path h="3987133" w="2071317">
                  <a:moveTo>
                    <a:pt x="0" y="0"/>
                  </a:moveTo>
                  <a:lnTo>
                    <a:pt x="2071317" y="0"/>
                  </a:lnTo>
                  <a:lnTo>
                    <a:pt x="2071317" y="3987133"/>
                  </a:lnTo>
                  <a:lnTo>
                    <a:pt x="0" y="39871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71317" cy="4025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220955" y="136285"/>
            <a:ext cx="6077559" cy="4226117"/>
          </a:xfrm>
          <a:custGeom>
            <a:avLst/>
            <a:gdLst/>
            <a:ahLst/>
            <a:cxnLst/>
            <a:rect r="r" b="b" t="t" l="l"/>
            <a:pathLst>
              <a:path h="4226117" w="6077559">
                <a:moveTo>
                  <a:pt x="0" y="0"/>
                </a:moveTo>
                <a:lnTo>
                  <a:pt x="6077559" y="0"/>
                </a:lnTo>
                <a:lnTo>
                  <a:pt x="6077559" y="4226117"/>
                </a:lnTo>
                <a:lnTo>
                  <a:pt x="0" y="42261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891" t="-6822" r="-4559" b="-56331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5327456"/>
            <a:ext cx="3780262" cy="1006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7394" indent="-353697" lvl="1">
              <a:lnSpc>
                <a:spcPts val="4030"/>
              </a:lnSpc>
              <a:buFont typeface="Arial"/>
              <a:buChar char="•"/>
            </a:pPr>
            <a:r>
              <a:rPr lang="en-US" sz="3276" spc="-65">
                <a:solidFill>
                  <a:srgbClr val="3B3A3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Jader Araujo</a:t>
            </a:r>
          </a:p>
          <a:p>
            <a:pPr algn="l" marL="707394" indent="-353697" lvl="1">
              <a:lnSpc>
                <a:spcPts val="4030"/>
              </a:lnSpc>
              <a:buFont typeface="Arial"/>
              <a:buChar char="•"/>
            </a:pPr>
            <a:r>
              <a:rPr lang="en-US" sz="3276" spc="-65">
                <a:solidFill>
                  <a:srgbClr val="3B3A3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Diana Vargas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945208" y="0"/>
            <a:ext cx="15405354" cy="10492410"/>
            <a:chOff x="0" y="0"/>
            <a:chExt cx="5475623" cy="37293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75623" cy="3729384"/>
            </a:xfrm>
            <a:custGeom>
              <a:avLst/>
              <a:gdLst/>
              <a:ahLst/>
              <a:cxnLst/>
              <a:rect r="r" b="b" t="t" l="l"/>
              <a:pathLst>
                <a:path h="3729384" w="5475623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solidFill>
              <a:srgbClr val="56C1C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75623" cy="3729384"/>
            </a:xfrm>
            <a:custGeom>
              <a:avLst/>
              <a:gdLst/>
              <a:ahLst/>
              <a:cxnLst/>
              <a:rect r="r" b="b" t="t" l="l"/>
              <a:pathLst>
                <a:path h="3729384" w="5475623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blipFill>
              <a:blip r:embed="rId2"/>
              <a:stretch>
                <a:fillRect l="-1081" t="0" r="-108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2497095">
            <a:off x="16665742" y="-7701051"/>
            <a:ext cx="3733048" cy="23631701"/>
            <a:chOff x="0" y="0"/>
            <a:chExt cx="983190" cy="62239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3190" cy="6223987"/>
            </a:xfrm>
            <a:custGeom>
              <a:avLst/>
              <a:gdLst/>
              <a:ahLst/>
              <a:cxnLst/>
              <a:rect r="r" b="b" t="t" l="l"/>
              <a:pathLst>
                <a:path h="6223987" w="983190">
                  <a:moveTo>
                    <a:pt x="0" y="0"/>
                  </a:moveTo>
                  <a:lnTo>
                    <a:pt x="983190" y="0"/>
                  </a:lnTo>
                  <a:lnTo>
                    <a:pt x="983190" y="6223987"/>
                  </a:lnTo>
                  <a:lnTo>
                    <a:pt x="0" y="622398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83190" cy="6262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3061349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0"/>
                </a:moveTo>
                <a:lnTo>
                  <a:pt x="0" y="0"/>
                </a:lnTo>
                <a:lnTo>
                  <a:pt x="0" y="4114800"/>
                </a:lnTo>
                <a:lnTo>
                  <a:pt x="5226651" y="4114800"/>
                </a:lnTo>
                <a:lnTo>
                  <a:pt x="522665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2497095">
            <a:off x="-2065072" y="7238866"/>
            <a:ext cx="3733048" cy="5612960"/>
            <a:chOff x="0" y="0"/>
            <a:chExt cx="983190" cy="14783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3190" cy="1478310"/>
            </a:xfrm>
            <a:custGeom>
              <a:avLst/>
              <a:gdLst/>
              <a:ahLst/>
              <a:cxnLst/>
              <a:rect r="r" b="b" t="t" l="l"/>
              <a:pathLst>
                <a:path h="1478310" w="983190">
                  <a:moveTo>
                    <a:pt x="0" y="0"/>
                  </a:moveTo>
                  <a:lnTo>
                    <a:pt x="983190" y="0"/>
                  </a:lnTo>
                  <a:lnTo>
                    <a:pt x="983190" y="1478310"/>
                  </a:lnTo>
                  <a:lnTo>
                    <a:pt x="0" y="147831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83190" cy="151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5894" y="1943100"/>
            <a:ext cx="9815067" cy="1040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7"/>
              </a:lnSpc>
              <a:spcBef>
                <a:spcPct val="0"/>
              </a:spcBef>
            </a:pPr>
            <a:r>
              <a:rPr lang="en-US" b="true" sz="6119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Misión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5894" y="3217877"/>
            <a:ext cx="9220050" cy="446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939"/>
              </a:lnSpc>
            </a:pPr>
            <a:r>
              <a:rPr lang="en-US" sz="3599" spc="10">
                <a:solidFill>
                  <a:srgbClr val="3B3A3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</a:t>
            </a:r>
            <a:r>
              <a:rPr lang="en-US" sz="3599" spc="10" strike="noStrike" u="none">
                <a:solidFill>
                  <a:srgbClr val="3B3A3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iseñar soluciones digitales a la medida (webs, tiendas online) para ser el aliado en la transformación digital de empresas, haciendo la tecnología accesible, fácil de usar y segura, para impulsar su crecimiento.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5894" y="7832920"/>
            <a:ext cx="7709314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Lema:</a:t>
            </a:r>
            <a:r>
              <a:rPr lang="en-US" sz="25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Tecnología que conecta, servicio que respalda.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945208" y="0"/>
            <a:ext cx="15405354" cy="10492410"/>
            <a:chOff x="0" y="0"/>
            <a:chExt cx="5475623" cy="37293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75623" cy="3729384"/>
            </a:xfrm>
            <a:custGeom>
              <a:avLst/>
              <a:gdLst/>
              <a:ahLst/>
              <a:cxnLst/>
              <a:rect r="r" b="b" t="t" l="l"/>
              <a:pathLst>
                <a:path h="3729384" w="5475623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solidFill>
              <a:srgbClr val="56C1C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75623" cy="3729384"/>
            </a:xfrm>
            <a:custGeom>
              <a:avLst/>
              <a:gdLst/>
              <a:ahLst/>
              <a:cxnLst/>
              <a:rect r="r" b="b" t="t" l="l"/>
              <a:pathLst>
                <a:path h="3729384" w="5475623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blipFill>
              <a:blip r:embed="rId2"/>
              <a:stretch>
                <a:fillRect l="-1081" t="0" r="-108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2497095">
            <a:off x="16665742" y="-7701051"/>
            <a:ext cx="3733048" cy="23631701"/>
            <a:chOff x="0" y="0"/>
            <a:chExt cx="983190" cy="62239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3190" cy="6223987"/>
            </a:xfrm>
            <a:custGeom>
              <a:avLst/>
              <a:gdLst/>
              <a:ahLst/>
              <a:cxnLst/>
              <a:rect r="r" b="b" t="t" l="l"/>
              <a:pathLst>
                <a:path h="6223987" w="983190">
                  <a:moveTo>
                    <a:pt x="0" y="0"/>
                  </a:moveTo>
                  <a:lnTo>
                    <a:pt x="983190" y="0"/>
                  </a:lnTo>
                  <a:lnTo>
                    <a:pt x="983190" y="6223987"/>
                  </a:lnTo>
                  <a:lnTo>
                    <a:pt x="0" y="622398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83190" cy="6262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3061349" y="0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1" y="0"/>
                </a:moveTo>
                <a:lnTo>
                  <a:pt x="0" y="0"/>
                </a:lnTo>
                <a:lnTo>
                  <a:pt x="0" y="4114800"/>
                </a:lnTo>
                <a:lnTo>
                  <a:pt x="5226651" y="4114800"/>
                </a:lnTo>
                <a:lnTo>
                  <a:pt x="522665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-2497095">
            <a:off x="-2065072" y="7238866"/>
            <a:ext cx="3733048" cy="5612960"/>
            <a:chOff x="0" y="0"/>
            <a:chExt cx="983190" cy="14783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3190" cy="1478310"/>
            </a:xfrm>
            <a:custGeom>
              <a:avLst/>
              <a:gdLst/>
              <a:ahLst/>
              <a:cxnLst/>
              <a:rect r="r" b="b" t="t" l="l"/>
              <a:pathLst>
                <a:path h="1478310" w="983190">
                  <a:moveTo>
                    <a:pt x="0" y="0"/>
                  </a:moveTo>
                  <a:lnTo>
                    <a:pt x="983190" y="0"/>
                  </a:lnTo>
                  <a:lnTo>
                    <a:pt x="983190" y="1478310"/>
                  </a:lnTo>
                  <a:lnTo>
                    <a:pt x="0" y="147831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83190" cy="151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5894" y="1943100"/>
            <a:ext cx="9815067" cy="1040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7"/>
              </a:lnSpc>
              <a:spcBef>
                <a:spcPct val="0"/>
              </a:spcBef>
            </a:pPr>
            <a:r>
              <a:rPr lang="en-US" b="true" sz="6119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Visión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5894" y="3265502"/>
            <a:ext cx="8696761" cy="538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89"/>
              </a:lnSpc>
            </a:pPr>
            <a:r>
              <a:rPr lang="en-US" b="true" sz="2599" spc="7">
                <a:solidFill>
                  <a:srgbClr val="3B3A3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En corto plazo (1-2 años):</a:t>
            </a:r>
            <a:r>
              <a:rPr lang="en-US" sz="2599" spc="7">
                <a:solidFill>
                  <a:srgbClr val="3B3A3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599" spc="7">
                <a:solidFill>
                  <a:srgbClr val="3B3A3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Convert</a:t>
            </a:r>
            <a:r>
              <a:rPr lang="en-US" sz="2599" spc="7" strike="noStrike" u="none">
                <a:solidFill>
                  <a:srgbClr val="3B3A3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irnos en una tienda online funcional y competitiva, cerrando el ciclo de venta digital de manera eficiente.</a:t>
            </a:r>
          </a:p>
          <a:p>
            <a:pPr algn="just" marL="0" indent="0" lvl="0">
              <a:lnSpc>
                <a:spcPts val="4289"/>
              </a:lnSpc>
            </a:pPr>
            <a:r>
              <a:rPr lang="en-US" b="true" sz="2599" spc="7" strike="noStrike" u="none">
                <a:solidFill>
                  <a:srgbClr val="3B3A3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 mediano plazo (3-5 años):</a:t>
            </a:r>
            <a:r>
              <a:rPr lang="en-US" sz="2599" spc="7" strike="noStrike" u="none">
                <a:solidFill>
                  <a:srgbClr val="3B3A3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Expandirnos a nivel nacional con una app propia y una comunidad fiel de clientes.</a:t>
            </a:r>
          </a:p>
          <a:p>
            <a:pPr algn="just" marL="0" indent="0" lvl="0">
              <a:lnSpc>
                <a:spcPts val="4289"/>
              </a:lnSpc>
            </a:pPr>
            <a:r>
              <a:rPr lang="en-US" b="true" sz="2599" spc="7" strike="noStrike" u="none">
                <a:solidFill>
                  <a:srgbClr val="3B3A3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 largo plazo (5+ años):</a:t>
            </a:r>
            <a:r>
              <a:rPr lang="en-US" sz="2599" spc="7" strike="noStrike" u="none">
                <a:solidFill>
                  <a:srgbClr val="3B3A3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Ser un referente nacional en tecnología, ofreciendo un ecosistema integral de comercio, consultoría y apoyo al ecosistema tech local.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880904" y="0"/>
            <a:ext cx="8603573" cy="10287000"/>
            <a:chOff x="0" y="0"/>
            <a:chExt cx="8603361" cy="1028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2794" y="-128"/>
              <a:ext cx="8606155" cy="10286874"/>
            </a:xfrm>
            <a:custGeom>
              <a:avLst/>
              <a:gdLst/>
              <a:ahLst/>
              <a:cxnLst/>
              <a:rect r="r" b="b" t="t" l="l"/>
              <a:pathLst>
                <a:path h="10286874" w="8606155">
                  <a:moveTo>
                    <a:pt x="8606155" y="10251441"/>
                  </a:moveTo>
                  <a:cubicBezTo>
                    <a:pt x="8606155" y="10284588"/>
                    <a:pt x="8595487" y="10286874"/>
                    <a:pt x="8567674" y="10286874"/>
                  </a:cubicBezTo>
                  <a:cubicBezTo>
                    <a:pt x="5713094" y="10286239"/>
                    <a:pt x="2858643" y="10286239"/>
                    <a:pt x="4064" y="10286239"/>
                  </a:cubicBezTo>
                  <a:cubicBezTo>
                    <a:pt x="0" y="10272396"/>
                    <a:pt x="6350" y="10259823"/>
                    <a:pt x="9271" y="10246996"/>
                  </a:cubicBezTo>
                  <a:cubicBezTo>
                    <a:pt x="134747" y="9685402"/>
                    <a:pt x="260350" y="9123935"/>
                    <a:pt x="386207" y="8562467"/>
                  </a:cubicBezTo>
                  <a:cubicBezTo>
                    <a:pt x="565658" y="7761986"/>
                    <a:pt x="745490" y="6961633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6"/>
                    <a:pt x="8605139" y="6846317"/>
                    <a:pt x="8606155" y="10251441"/>
                  </a:cubicBezTo>
                  <a:close/>
                </a:path>
              </a:pathLst>
            </a:custGeom>
            <a:blipFill>
              <a:blip r:embed="rId2"/>
              <a:stretch>
                <a:fillRect l="-33630" t="-37794" r="-44006" b="-107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4571454">
            <a:off x="7375561" y="7033489"/>
            <a:ext cx="8088844" cy="487354"/>
            <a:chOff x="0" y="0"/>
            <a:chExt cx="14285852" cy="860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85852" cy="860725"/>
            </a:xfrm>
            <a:custGeom>
              <a:avLst/>
              <a:gdLst/>
              <a:ahLst/>
              <a:cxnLst/>
              <a:rect r="r" b="b" t="t" l="l"/>
              <a:pathLst>
                <a:path h="860725" w="14285852">
                  <a:moveTo>
                    <a:pt x="203200" y="0"/>
                  </a:moveTo>
                  <a:lnTo>
                    <a:pt x="14285852" y="0"/>
                  </a:lnTo>
                  <a:lnTo>
                    <a:pt x="14082652" y="860725"/>
                  </a:lnTo>
                  <a:lnTo>
                    <a:pt x="0" y="86072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95D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-38100"/>
              <a:ext cx="14082652" cy="89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557953"/>
            <a:ext cx="8602680" cy="84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08"/>
              </a:lnSpc>
              <a:spcBef>
                <a:spcPct val="0"/>
              </a:spcBef>
            </a:pPr>
            <a:r>
              <a:rPr lang="en-US" b="true" sz="4934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Objetivos</a:t>
            </a:r>
          </a:p>
        </p:txBody>
      </p:sp>
      <p:grpSp>
        <p:nvGrpSpPr>
          <p:cNvPr name="Group 8" id="8"/>
          <p:cNvGrpSpPr/>
          <p:nvPr/>
        </p:nvGrpSpPr>
        <p:grpSpPr>
          <a:xfrm rot="-4607105">
            <a:off x="10858725" y="282787"/>
            <a:ext cx="4368397" cy="300533"/>
            <a:chOff x="0" y="0"/>
            <a:chExt cx="12511083" cy="860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11083" cy="860725"/>
            </a:xfrm>
            <a:custGeom>
              <a:avLst/>
              <a:gdLst/>
              <a:ahLst/>
              <a:cxnLst/>
              <a:rect r="r" b="b" t="t" l="l"/>
              <a:pathLst>
                <a:path h="860725" w="12511083">
                  <a:moveTo>
                    <a:pt x="203200" y="0"/>
                  </a:moveTo>
                  <a:lnTo>
                    <a:pt x="12511083" y="0"/>
                  </a:lnTo>
                  <a:lnTo>
                    <a:pt x="12307883" y="860725"/>
                  </a:lnTo>
                  <a:lnTo>
                    <a:pt x="0" y="86072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EEA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12307883" cy="89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0870539" y="3653159"/>
            <a:ext cx="1830372" cy="7343575"/>
          </a:xfrm>
          <a:prstGeom prst="line">
            <a:avLst/>
          </a:prstGeom>
          <a:ln cap="flat" w="857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-393270" y="1858840"/>
            <a:ext cx="5145718" cy="937996"/>
            <a:chOff x="0" y="0"/>
            <a:chExt cx="2621802" cy="477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21802" cy="477920"/>
            </a:xfrm>
            <a:custGeom>
              <a:avLst/>
              <a:gdLst/>
              <a:ahLst/>
              <a:cxnLst/>
              <a:rect r="r" b="b" t="t" l="l"/>
              <a:pathLst>
                <a:path h="477920" w="2621802">
                  <a:moveTo>
                    <a:pt x="2418602" y="0"/>
                  </a:moveTo>
                  <a:lnTo>
                    <a:pt x="0" y="0"/>
                  </a:lnTo>
                  <a:lnTo>
                    <a:pt x="0" y="477920"/>
                  </a:lnTo>
                  <a:lnTo>
                    <a:pt x="2418602" y="477920"/>
                  </a:lnTo>
                  <a:lnTo>
                    <a:pt x="2621802" y="238960"/>
                  </a:lnTo>
                  <a:lnTo>
                    <a:pt x="2418602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507502" cy="487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4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545670" y="1779694"/>
            <a:ext cx="5145718" cy="937996"/>
            <a:chOff x="0" y="0"/>
            <a:chExt cx="2621802" cy="477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21802" cy="477920"/>
            </a:xfrm>
            <a:custGeom>
              <a:avLst/>
              <a:gdLst/>
              <a:ahLst/>
              <a:cxnLst/>
              <a:rect r="r" b="b" t="t" l="l"/>
              <a:pathLst>
                <a:path h="477920" w="2621802">
                  <a:moveTo>
                    <a:pt x="2418602" y="0"/>
                  </a:moveTo>
                  <a:lnTo>
                    <a:pt x="0" y="0"/>
                  </a:lnTo>
                  <a:lnTo>
                    <a:pt x="0" y="477920"/>
                  </a:lnTo>
                  <a:lnTo>
                    <a:pt x="2418602" y="477920"/>
                  </a:lnTo>
                  <a:lnTo>
                    <a:pt x="2621802" y="238960"/>
                  </a:lnTo>
                  <a:lnTo>
                    <a:pt x="2418602" y="0"/>
                  </a:lnTo>
                  <a:close/>
                </a:path>
              </a:pathLst>
            </a:custGeom>
            <a:solidFill>
              <a:srgbClr val="095D40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507502" cy="487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4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13344" y="2023162"/>
            <a:ext cx="2977379" cy="41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5"/>
              </a:lnSpc>
            </a:pPr>
            <a:r>
              <a:rPr lang="en-US" b="true" sz="2489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 general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063537"/>
            <a:ext cx="9380114" cy="1878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03"/>
              </a:lnSpc>
              <a:spcBef>
                <a:spcPct val="0"/>
              </a:spcBef>
            </a:pPr>
            <a:r>
              <a:rPr lang="en-US" sz="2304" spc="6">
                <a:solidFill>
                  <a:srgbClr val="3B3A3A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304" spc="6" strike="noStrike" u="none">
                <a:solidFill>
                  <a:srgbClr val="3B3A3A"/>
                </a:solidFill>
                <a:latin typeface="Montserrat"/>
                <a:ea typeface="Montserrat"/>
                <a:cs typeface="Montserrat"/>
                <a:sym typeface="Montserrat"/>
              </a:rPr>
              <a:t>esarrollar un sitio web catálogo para Galugas que presente sus productos de forma organizada e interactiva, permitiendo analizar el comportamiento de los usuarios para refinar las estrategias de marketing.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545670" y="5143500"/>
            <a:ext cx="5298118" cy="1017143"/>
            <a:chOff x="0" y="0"/>
            <a:chExt cx="7064157" cy="135619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203200" y="105528"/>
              <a:ext cx="6860957" cy="1250662"/>
              <a:chOff x="0" y="0"/>
              <a:chExt cx="2621802" cy="47792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621802" cy="477920"/>
              </a:xfrm>
              <a:custGeom>
                <a:avLst/>
                <a:gdLst/>
                <a:ahLst/>
                <a:cxnLst/>
                <a:rect r="r" b="b" t="t" l="l"/>
                <a:pathLst>
                  <a:path h="477920" w="2621802">
                    <a:moveTo>
                      <a:pt x="2418602" y="0"/>
                    </a:moveTo>
                    <a:lnTo>
                      <a:pt x="0" y="0"/>
                    </a:lnTo>
                    <a:lnTo>
                      <a:pt x="0" y="477920"/>
                    </a:lnTo>
                    <a:lnTo>
                      <a:pt x="2418602" y="477920"/>
                    </a:lnTo>
                    <a:lnTo>
                      <a:pt x="2621802" y="238960"/>
                    </a:lnTo>
                    <a:lnTo>
                      <a:pt x="2418602" y="0"/>
                    </a:lnTo>
                    <a:close/>
                  </a:path>
                </a:pathLst>
              </a:custGeom>
              <a:solidFill>
                <a:srgbClr val="AEEA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2507502" cy="4874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4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0"/>
              <a:ext cx="6860957" cy="1250662"/>
              <a:chOff x="0" y="0"/>
              <a:chExt cx="2621802" cy="47792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621802" cy="477920"/>
              </a:xfrm>
              <a:custGeom>
                <a:avLst/>
                <a:gdLst/>
                <a:ahLst/>
                <a:cxnLst/>
                <a:rect r="r" b="b" t="t" l="l"/>
                <a:pathLst>
                  <a:path h="477920" w="2621802">
                    <a:moveTo>
                      <a:pt x="2418602" y="0"/>
                    </a:moveTo>
                    <a:lnTo>
                      <a:pt x="0" y="0"/>
                    </a:lnTo>
                    <a:lnTo>
                      <a:pt x="0" y="477920"/>
                    </a:lnTo>
                    <a:lnTo>
                      <a:pt x="2418602" y="477920"/>
                    </a:lnTo>
                    <a:lnTo>
                      <a:pt x="2621802" y="238960"/>
                    </a:lnTo>
                    <a:lnTo>
                      <a:pt x="2418602" y="0"/>
                    </a:lnTo>
                    <a:close/>
                  </a:path>
                </a:pathLst>
              </a:custGeom>
              <a:solidFill>
                <a:srgbClr val="095D4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2507502" cy="4874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4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544393" y="337324"/>
              <a:ext cx="4904130" cy="537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85"/>
                </a:lnSpc>
              </a:pPr>
              <a:r>
                <a:rPr lang="en-US" b="true" sz="2489">
                  <a:solidFill>
                    <a:srgbClr val="F4F4F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Objetivos específicos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28700" y="6522593"/>
            <a:ext cx="9380114" cy="332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869" indent="-216435" lvl="1">
              <a:lnSpc>
                <a:spcPts val="33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4" spc="6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 el usuari</a:t>
            </a:r>
            <a:r>
              <a:rPr lang="en-US" b="true" sz="2004" spc="6" strike="noStrike" u="non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o:</a:t>
            </a:r>
            <a:r>
              <a:rPr lang="en-US" sz="2004" spc="6" strike="noStrike" u="none">
                <a:solidFill>
                  <a:srgbClr val="3B3A3A"/>
                </a:solidFill>
                <a:latin typeface="Montserrat"/>
                <a:ea typeface="Montserrat"/>
                <a:cs typeface="Montserrat"/>
                <a:sym typeface="Montserrat"/>
              </a:rPr>
              <a:t> Crear una web donde pueda encontrar, filtrar y ver detalles de los productos fácilmente para comprar.</a:t>
            </a:r>
          </a:p>
          <a:p>
            <a:pPr algn="just" marL="432869" indent="-216435" lvl="1">
              <a:lnSpc>
                <a:spcPts val="33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4" spc="6" strike="noStrike" u="non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 el desarrollo:</a:t>
            </a:r>
            <a:r>
              <a:rPr lang="en-US" sz="2004" spc="6" strike="noStrike" u="none">
                <a:solidFill>
                  <a:srgbClr val="3B3A3A"/>
                </a:solidFill>
                <a:latin typeface="Montserrat"/>
                <a:ea typeface="Montserrat"/>
                <a:cs typeface="Montserrat"/>
                <a:sym typeface="Montserrat"/>
              </a:rPr>
              <a:t> Elegir las mejores herramientas y un método de trabajo eficiente para construir el proyecto.</a:t>
            </a:r>
          </a:p>
          <a:p>
            <a:pPr algn="l" marL="432869" indent="-216435" lvl="1">
              <a:lnSpc>
                <a:spcPts val="33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4" spc="6" strike="noStrike" u="non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 la información:</a:t>
            </a:r>
            <a:r>
              <a:rPr lang="en-US" sz="2004" spc="6" strike="noStrike" u="none">
                <a:solidFill>
                  <a:srgbClr val="3B3A3A"/>
                </a:solidFill>
                <a:latin typeface="Montserrat"/>
                <a:ea typeface="Montserrat"/>
                <a:cs typeface="Montserrat"/>
                <a:sym typeface="Montserrat"/>
              </a:rPr>
              <a:t> Mostrar los datos del producto de forma clara y con contenido extra (como videos) para una mejor visualización.</a:t>
            </a:r>
          </a:p>
          <a:p>
            <a:pPr algn="l" marL="432869" indent="-216435" lvl="1">
              <a:lnSpc>
                <a:spcPts val="33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4" spc="6" strike="noStrike" u="none">
                <a:solidFill>
                  <a:srgbClr val="3B3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 la empresa:</a:t>
            </a:r>
            <a:r>
              <a:rPr lang="en-US" sz="2004" spc="6" strike="noStrike" u="none">
                <a:solidFill>
                  <a:srgbClr val="3B3A3A"/>
                </a:solidFill>
                <a:latin typeface="Montserrat"/>
                <a:ea typeface="Montserrat"/>
                <a:cs typeface="Montserrat"/>
                <a:sym typeface="Montserrat"/>
              </a:rPr>
              <a:t> Eliminar los costos de los catálogos en papel y optimizar los recursos.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5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05181">
            <a:off x="13828538" y="-922393"/>
            <a:ext cx="7908103" cy="16314940"/>
            <a:chOff x="0" y="0"/>
            <a:chExt cx="2082792" cy="4296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792" cy="4296939"/>
            </a:xfrm>
            <a:custGeom>
              <a:avLst/>
              <a:gdLst/>
              <a:ahLst/>
              <a:cxnLst/>
              <a:rect r="r" b="b" t="t" l="l"/>
              <a:pathLst>
                <a:path h="4296939" w="2082792">
                  <a:moveTo>
                    <a:pt x="0" y="0"/>
                  </a:moveTo>
                  <a:lnTo>
                    <a:pt x="2082792" y="0"/>
                  </a:lnTo>
                  <a:lnTo>
                    <a:pt x="2082792" y="4296939"/>
                  </a:lnTo>
                  <a:lnTo>
                    <a:pt x="0" y="429693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82792" cy="4335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25930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1028700" y="2552058"/>
          <a:ext cx="3771900" cy="2514600"/>
        </p:xfrm>
        <a:graphic>
          <a:graphicData uri="http://schemas.openxmlformats.org/presentationml/2006/ole">
            <p:oleObj imgW="4521200" imgH="3263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477621" y="876300"/>
            <a:ext cx="9462255" cy="1346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10"/>
              </a:lnSpc>
              <a:spcBef>
                <a:spcPct val="0"/>
              </a:spcBef>
            </a:pPr>
            <a:r>
              <a:rPr lang="en-US" b="true" sz="7864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Matriz DOFA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5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05181">
            <a:off x="13828538" y="-922393"/>
            <a:ext cx="7908103" cy="16314940"/>
            <a:chOff x="0" y="0"/>
            <a:chExt cx="2082792" cy="4296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792" cy="4296939"/>
            </a:xfrm>
            <a:custGeom>
              <a:avLst/>
              <a:gdLst/>
              <a:ahLst/>
              <a:cxnLst/>
              <a:rect r="r" b="b" t="t" l="l"/>
              <a:pathLst>
                <a:path h="4296939" w="2082792">
                  <a:moveTo>
                    <a:pt x="0" y="0"/>
                  </a:moveTo>
                  <a:lnTo>
                    <a:pt x="2082792" y="0"/>
                  </a:lnTo>
                  <a:lnTo>
                    <a:pt x="2082792" y="4296939"/>
                  </a:lnTo>
                  <a:lnTo>
                    <a:pt x="0" y="429693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82792" cy="4335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028700" y="2291848"/>
          <a:ext cx="3771900" cy="2514600"/>
        </p:xfrm>
        <a:graphic>
          <a:graphicData uri="http://schemas.openxmlformats.org/presentationml/2006/ole">
            <p:oleObj imgW="4521200" imgH="3263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477621" y="876300"/>
            <a:ext cx="9462255" cy="1346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10"/>
              </a:lnSpc>
              <a:spcBef>
                <a:spcPct val="0"/>
              </a:spcBef>
            </a:pPr>
            <a:r>
              <a:rPr lang="en-US" b="true" sz="7864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Matriz FODA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25930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5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05181">
            <a:off x="13828538" y="-922393"/>
            <a:ext cx="7908103" cy="16314940"/>
            <a:chOff x="0" y="0"/>
            <a:chExt cx="2082792" cy="4296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792" cy="4296939"/>
            </a:xfrm>
            <a:custGeom>
              <a:avLst/>
              <a:gdLst/>
              <a:ahLst/>
              <a:cxnLst/>
              <a:rect r="r" b="b" t="t" l="l"/>
              <a:pathLst>
                <a:path h="4296939" w="2082792">
                  <a:moveTo>
                    <a:pt x="0" y="0"/>
                  </a:moveTo>
                  <a:lnTo>
                    <a:pt x="2082792" y="0"/>
                  </a:lnTo>
                  <a:lnTo>
                    <a:pt x="2082792" y="4296939"/>
                  </a:lnTo>
                  <a:lnTo>
                    <a:pt x="0" y="429693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82792" cy="4335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7621" y="2606642"/>
            <a:ext cx="9622652" cy="6651658"/>
          </a:xfrm>
          <a:custGeom>
            <a:avLst/>
            <a:gdLst/>
            <a:ahLst/>
            <a:cxnLst/>
            <a:rect r="r" b="b" t="t" l="l"/>
            <a:pathLst>
              <a:path h="6651658" w="9622652">
                <a:moveTo>
                  <a:pt x="0" y="0"/>
                </a:moveTo>
                <a:lnTo>
                  <a:pt x="9622651" y="0"/>
                </a:lnTo>
                <a:lnTo>
                  <a:pt x="9622651" y="6651658"/>
                </a:lnTo>
                <a:lnTo>
                  <a:pt x="0" y="6651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77621" y="876300"/>
            <a:ext cx="9462255" cy="1346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10"/>
              </a:lnSpc>
              <a:spcBef>
                <a:spcPct val="0"/>
              </a:spcBef>
            </a:pPr>
            <a:r>
              <a:rPr lang="en-US" b="true" sz="7864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Mapa de procesos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25930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5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05181">
            <a:off x="13828538" y="-922393"/>
            <a:ext cx="7908103" cy="16314940"/>
            <a:chOff x="0" y="0"/>
            <a:chExt cx="2082792" cy="4296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792" cy="4296939"/>
            </a:xfrm>
            <a:custGeom>
              <a:avLst/>
              <a:gdLst/>
              <a:ahLst/>
              <a:cxnLst/>
              <a:rect r="r" b="b" t="t" l="l"/>
              <a:pathLst>
                <a:path h="4296939" w="2082792">
                  <a:moveTo>
                    <a:pt x="0" y="0"/>
                  </a:moveTo>
                  <a:lnTo>
                    <a:pt x="2082792" y="0"/>
                  </a:lnTo>
                  <a:lnTo>
                    <a:pt x="2082792" y="4296939"/>
                  </a:lnTo>
                  <a:lnTo>
                    <a:pt x="0" y="429693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82792" cy="4335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77621" y="876300"/>
            <a:ext cx="9462255" cy="1346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10"/>
              </a:lnSpc>
              <a:spcBef>
                <a:spcPct val="0"/>
              </a:spcBef>
            </a:pPr>
            <a:r>
              <a:rPr lang="en-US" b="true" sz="7864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Políticas externas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7621" y="2577487"/>
            <a:ext cx="8125967" cy="518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683" indent="-302342" lvl="1">
              <a:lnSpc>
                <a:spcPts val="4621"/>
              </a:lnSpc>
              <a:buFont typeface="Arial"/>
              <a:buChar char="•"/>
            </a:pPr>
            <a:r>
              <a:rPr lang="en-US" b="true" sz="2800" spc="8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Ley 527 de 1999:</a:t>
            </a:r>
            <a:r>
              <a:rPr lang="en-US" sz="2800" spc="8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 marL="604683" indent="-302342" lvl="1">
              <a:lnSpc>
                <a:spcPts val="4621"/>
              </a:lnSpc>
              <a:buFont typeface="Arial"/>
              <a:buChar char="•"/>
            </a:pPr>
            <a:r>
              <a:rPr lang="en-US" b="true" sz="2800" spc="8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Ley 1480 de 2011:</a:t>
            </a:r>
            <a:r>
              <a:rPr lang="en-US" sz="2800" spc="8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 marL="604683" indent="-302342" lvl="1">
              <a:lnSpc>
                <a:spcPts val="4621"/>
              </a:lnSpc>
              <a:buFont typeface="Arial"/>
              <a:buChar char="•"/>
            </a:pPr>
            <a:r>
              <a:rPr lang="en-US" b="true" sz="2800" spc="8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Ley 1581 de 2012:</a:t>
            </a:r>
          </a:p>
          <a:p>
            <a:pPr algn="l" marL="604683" indent="-302342" lvl="1">
              <a:lnSpc>
                <a:spcPts val="4621"/>
              </a:lnSpc>
              <a:buFont typeface="Arial"/>
              <a:buChar char="•"/>
            </a:pPr>
            <a:r>
              <a:rPr lang="en-US" b="true" sz="2800" spc="8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Estándares W3C (WCAG)</a:t>
            </a:r>
          </a:p>
          <a:p>
            <a:pPr algn="l" marL="604683" indent="-302342" lvl="1">
              <a:lnSpc>
                <a:spcPts val="4621"/>
              </a:lnSpc>
              <a:buFont typeface="Arial"/>
              <a:buChar char="•"/>
            </a:pPr>
            <a:r>
              <a:rPr lang="en-US" b="true" sz="2800" spc="8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ISO/IEC 27001</a:t>
            </a:r>
          </a:p>
          <a:p>
            <a:pPr algn="l" marL="604683" indent="-302342" lvl="1">
              <a:lnSpc>
                <a:spcPts val="4621"/>
              </a:lnSpc>
              <a:buFont typeface="Arial"/>
              <a:buChar char="•"/>
            </a:pPr>
            <a:r>
              <a:rPr lang="en-US" b="true" sz="2800" spc="8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ISO 9001</a:t>
            </a:r>
          </a:p>
          <a:p>
            <a:pPr algn="l" marL="604683" indent="-302342" lvl="1">
              <a:lnSpc>
                <a:spcPts val="4621"/>
              </a:lnSpc>
              <a:buFont typeface="Arial"/>
              <a:buChar char="•"/>
            </a:pPr>
            <a:r>
              <a:rPr lang="en-US" b="true" sz="2800" spc="8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ISO/IEC 20000</a:t>
            </a:r>
          </a:p>
          <a:p>
            <a:pPr algn="l" marL="604683" indent="-302342" lvl="1">
              <a:lnSpc>
                <a:spcPts val="4621"/>
              </a:lnSpc>
              <a:buFont typeface="Arial"/>
              <a:buChar char="•"/>
            </a:pPr>
            <a:r>
              <a:rPr lang="en-US" b="true" sz="2800" spc="8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Ley 43 de 1990</a:t>
            </a:r>
          </a:p>
          <a:p>
            <a:pPr algn="l" marL="604683" indent="-302342" lvl="1">
              <a:lnSpc>
                <a:spcPts val="4621"/>
              </a:lnSpc>
              <a:buFont typeface="Arial"/>
              <a:buChar char="•"/>
            </a:pPr>
            <a:r>
              <a:rPr lang="en-US" b="true" sz="2800" spc="8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Ley 1978 de 2019 &amp; Decreto 1078 de 2015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25930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5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05181">
            <a:off x="13828538" y="-922393"/>
            <a:ext cx="7908103" cy="16314940"/>
            <a:chOff x="0" y="0"/>
            <a:chExt cx="2082792" cy="4296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792" cy="4296939"/>
            </a:xfrm>
            <a:custGeom>
              <a:avLst/>
              <a:gdLst/>
              <a:ahLst/>
              <a:cxnLst/>
              <a:rect r="r" b="b" t="t" l="l"/>
              <a:pathLst>
                <a:path h="4296939" w="2082792">
                  <a:moveTo>
                    <a:pt x="0" y="0"/>
                  </a:moveTo>
                  <a:lnTo>
                    <a:pt x="2082792" y="0"/>
                  </a:lnTo>
                  <a:lnTo>
                    <a:pt x="2082792" y="4296939"/>
                  </a:lnTo>
                  <a:lnTo>
                    <a:pt x="0" y="429693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82792" cy="4335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77621" y="876300"/>
            <a:ext cx="9462255" cy="134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10"/>
              </a:lnSpc>
              <a:spcBef>
                <a:spcPct val="0"/>
              </a:spcBef>
            </a:pPr>
            <a:r>
              <a:rPr lang="en-US" b="true" sz="7864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Políticas internas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7621" y="2596537"/>
            <a:ext cx="7025219" cy="728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199" spc="6" b="true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Gestión y Operación:</a:t>
            </a:r>
          </a:p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b="true" sz="21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ITIL &amp; ISO</a:t>
            </a:r>
          </a:p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b="true" sz="21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Manual Institucional</a:t>
            </a:r>
          </a:p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b="true" sz="21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Auditoría Interna</a:t>
            </a:r>
          </a:p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b="true" sz="21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Capacitación en Protección de Datos</a:t>
            </a:r>
          </a:p>
          <a:p>
            <a:pPr algn="l">
              <a:lnSpc>
                <a:spcPts val="3629"/>
              </a:lnSpc>
            </a:pPr>
            <a:r>
              <a:rPr lang="en-US" sz="2199" spc="6" b="true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Normas y Protocolos Técnicos:</a:t>
            </a:r>
          </a:p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b="true" sz="21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HTTPS y Cifrado</a:t>
            </a:r>
          </a:p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b="true" sz="21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OAuth 2.0</a:t>
            </a:r>
          </a:p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b="true" sz="21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Registro de Logs</a:t>
            </a:r>
          </a:p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b="true" sz="21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Control de Versiones (Git)</a:t>
            </a:r>
          </a:p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b="true" sz="21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Pruebas Automatizadas</a:t>
            </a:r>
          </a:p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b="true" sz="21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Documentación de Incidencias</a:t>
            </a:r>
          </a:p>
          <a:p>
            <a:pPr algn="l">
              <a:lnSpc>
                <a:spcPts val="3629"/>
              </a:lnSpc>
            </a:pPr>
            <a:r>
              <a:rPr lang="en-US" sz="2199" spc="6" b="true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Seguridad Social:</a:t>
            </a:r>
          </a:p>
          <a:p>
            <a:pPr algn="l" marL="474979" indent="-237490" lvl="1">
              <a:lnSpc>
                <a:spcPts val="3629"/>
              </a:lnSpc>
              <a:buFont typeface="Arial"/>
              <a:buChar char="•"/>
            </a:pPr>
            <a:r>
              <a:rPr lang="en-US" b="true" sz="21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SG-SST (Ley 1562 de 2012, Decreto 1072 de 2015, Resolución 0312 de 2019)</a:t>
            </a:r>
          </a:p>
          <a:p>
            <a:pPr algn="l">
              <a:lnSpc>
                <a:spcPts val="362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25930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5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05181">
            <a:off x="13828538" y="-922393"/>
            <a:ext cx="7908103" cy="16314940"/>
            <a:chOff x="0" y="0"/>
            <a:chExt cx="2082792" cy="4296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792" cy="4296939"/>
            </a:xfrm>
            <a:custGeom>
              <a:avLst/>
              <a:gdLst/>
              <a:ahLst/>
              <a:cxnLst/>
              <a:rect r="r" b="b" t="t" l="l"/>
              <a:pathLst>
                <a:path h="4296939" w="2082792">
                  <a:moveTo>
                    <a:pt x="0" y="0"/>
                  </a:moveTo>
                  <a:lnTo>
                    <a:pt x="2082792" y="0"/>
                  </a:lnTo>
                  <a:lnTo>
                    <a:pt x="2082792" y="4296939"/>
                  </a:lnTo>
                  <a:lnTo>
                    <a:pt x="0" y="429693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82792" cy="4335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477621" y="2602268"/>
          <a:ext cx="3771900" cy="5657850"/>
        </p:xfrm>
        <a:graphic>
          <a:graphicData uri="http://schemas.openxmlformats.org/presentationml/2006/ole">
            <p:oleObj imgW="4902200" imgH="6781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477621" y="876300"/>
            <a:ext cx="9462255" cy="134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10"/>
              </a:lnSpc>
              <a:spcBef>
                <a:spcPct val="0"/>
              </a:spcBef>
            </a:pPr>
            <a:r>
              <a:rPr lang="en-US" b="true" sz="7864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RUT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25930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5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05181">
            <a:off x="13828538" y="-922393"/>
            <a:ext cx="7908103" cy="16314940"/>
            <a:chOff x="0" y="0"/>
            <a:chExt cx="2082792" cy="4296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792" cy="4296939"/>
            </a:xfrm>
            <a:custGeom>
              <a:avLst/>
              <a:gdLst/>
              <a:ahLst/>
              <a:cxnLst/>
              <a:rect r="r" b="b" t="t" l="l"/>
              <a:pathLst>
                <a:path h="4296939" w="2082792">
                  <a:moveTo>
                    <a:pt x="0" y="0"/>
                  </a:moveTo>
                  <a:lnTo>
                    <a:pt x="2082792" y="0"/>
                  </a:lnTo>
                  <a:lnTo>
                    <a:pt x="2082792" y="4296939"/>
                  </a:lnTo>
                  <a:lnTo>
                    <a:pt x="0" y="429693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82792" cy="4335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77621" y="876300"/>
            <a:ext cx="9462255" cy="134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10"/>
              </a:lnSpc>
              <a:spcBef>
                <a:spcPct val="0"/>
              </a:spcBef>
            </a:pPr>
            <a:r>
              <a:rPr lang="en-US" b="true" sz="7864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Reglas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7621" y="2392566"/>
            <a:ext cx="8238289" cy="484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sz="2599" spc="7" b="true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CAPÍTULO I: Normas Generales de Conducta</a:t>
            </a:r>
          </a:p>
          <a:p>
            <a:pPr algn="l" marL="561337" indent="-280669" lvl="1">
              <a:lnSpc>
                <a:spcPts val="4289"/>
              </a:lnSpc>
              <a:buFont typeface="Arial"/>
              <a:buChar char="•"/>
            </a:pPr>
            <a:r>
              <a:rPr lang="en-US" b="true" sz="2599" spc="7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Principios Éticos (Art. 1)</a:t>
            </a:r>
          </a:p>
          <a:p>
            <a:pPr algn="l">
              <a:lnSpc>
                <a:spcPts val="4289"/>
              </a:lnSpc>
            </a:pPr>
            <a:r>
              <a:rPr lang="en-US" sz="2599" spc="7" b="true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CAPÍTULO II: Derechos de los Trabajadores</a:t>
            </a:r>
          </a:p>
          <a:p>
            <a:pPr algn="l" marL="561337" indent="-280669" lvl="1">
              <a:lnSpc>
                <a:spcPts val="4289"/>
              </a:lnSpc>
              <a:buFont typeface="Arial"/>
              <a:buChar char="•"/>
            </a:pPr>
            <a:r>
              <a:rPr lang="en-US" b="true" sz="2599" spc="7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Derechos Fundamentales (Art. 2)</a:t>
            </a:r>
          </a:p>
          <a:p>
            <a:pPr algn="l" marL="561337" indent="-280669" lvl="1">
              <a:lnSpc>
                <a:spcPts val="4289"/>
              </a:lnSpc>
              <a:buFont typeface="Arial"/>
              <a:buChar char="•"/>
            </a:pPr>
            <a:r>
              <a:rPr lang="en-US" b="true" sz="2599" spc="7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Derechos del Sector Tecnológico (Art. 3)</a:t>
            </a:r>
          </a:p>
          <a:p>
            <a:pPr algn="l">
              <a:lnSpc>
                <a:spcPts val="4289"/>
              </a:lnSpc>
            </a:pPr>
            <a:r>
              <a:rPr lang="en-US" sz="2599" spc="7" b="true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CAPÍTULO III: Deberes de los Trabajadores</a:t>
            </a:r>
          </a:p>
          <a:p>
            <a:pPr algn="l" marL="561337" indent="-280669" lvl="1">
              <a:lnSpc>
                <a:spcPts val="4289"/>
              </a:lnSpc>
              <a:buFont typeface="Arial"/>
              <a:buChar char="•"/>
            </a:pPr>
            <a:r>
              <a:rPr lang="en-US" b="true" sz="2599" spc="7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Deberes Generales (Art. 4)</a:t>
            </a:r>
          </a:p>
          <a:p>
            <a:pPr algn="l" marL="561337" indent="-280669" lvl="1">
              <a:lnSpc>
                <a:spcPts val="4289"/>
              </a:lnSpc>
              <a:buFont typeface="Arial"/>
              <a:buChar char="•"/>
            </a:pPr>
            <a:r>
              <a:rPr lang="en-US" b="true" sz="2599" spc="7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Deberes Técnicos (Art. 6)</a:t>
            </a:r>
          </a:p>
          <a:p>
            <a:pPr algn="l" marL="561337" indent="-280669" lvl="1">
              <a:lnSpc>
                <a:spcPts val="4289"/>
              </a:lnSpc>
              <a:buFont typeface="Arial"/>
              <a:buChar char="•"/>
            </a:pPr>
            <a:r>
              <a:rPr lang="en-US" b="true" sz="2599" spc="7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Deberes de Seguridad (Art. 7)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25930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5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05181">
            <a:off x="13828538" y="-922393"/>
            <a:ext cx="7908103" cy="16314940"/>
            <a:chOff x="0" y="0"/>
            <a:chExt cx="2082792" cy="4296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792" cy="4296939"/>
            </a:xfrm>
            <a:custGeom>
              <a:avLst/>
              <a:gdLst/>
              <a:ahLst/>
              <a:cxnLst/>
              <a:rect r="r" b="b" t="t" l="l"/>
              <a:pathLst>
                <a:path h="4296939" w="2082792">
                  <a:moveTo>
                    <a:pt x="0" y="0"/>
                  </a:moveTo>
                  <a:lnTo>
                    <a:pt x="2082792" y="0"/>
                  </a:lnTo>
                  <a:lnTo>
                    <a:pt x="2082792" y="4296939"/>
                  </a:lnTo>
                  <a:lnTo>
                    <a:pt x="0" y="429693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82792" cy="4335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9411" y="2404776"/>
            <a:ext cx="12678869" cy="5121199"/>
          </a:xfrm>
          <a:custGeom>
            <a:avLst/>
            <a:gdLst/>
            <a:ahLst/>
            <a:cxnLst/>
            <a:rect r="r" b="b" t="t" l="l"/>
            <a:pathLst>
              <a:path h="5121199" w="12678869">
                <a:moveTo>
                  <a:pt x="0" y="0"/>
                </a:moveTo>
                <a:lnTo>
                  <a:pt x="12678869" y="0"/>
                </a:lnTo>
                <a:lnTo>
                  <a:pt x="12678869" y="5121199"/>
                </a:lnTo>
                <a:lnTo>
                  <a:pt x="0" y="5121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7" t="-1792" r="0" b="-179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77621" y="876300"/>
            <a:ext cx="9462255" cy="135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150"/>
              </a:lnSpc>
              <a:spcBef>
                <a:spcPct val="0"/>
              </a:spcBef>
            </a:pPr>
            <a:r>
              <a:rPr lang="en-US" b="true" sz="7964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Programas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25930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5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05181">
            <a:off x="13828538" y="-922393"/>
            <a:ext cx="7908103" cy="16314940"/>
            <a:chOff x="0" y="0"/>
            <a:chExt cx="2082792" cy="4296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792" cy="4296939"/>
            </a:xfrm>
            <a:custGeom>
              <a:avLst/>
              <a:gdLst/>
              <a:ahLst/>
              <a:cxnLst/>
              <a:rect r="r" b="b" t="t" l="l"/>
              <a:pathLst>
                <a:path h="4296939" w="2082792">
                  <a:moveTo>
                    <a:pt x="0" y="0"/>
                  </a:moveTo>
                  <a:lnTo>
                    <a:pt x="2082792" y="0"/>
                  </a:lnTo>
                  <a:lnTo>
                    <a:pt x="2082792" y="4296939"/>
                  </a:lnTo>
                  <a:lnTo>
                    <a:pt x="0" y="429693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82792" cy="4335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121549" y="2236100"/>
            <a:ext cx="4174398" cy="7894842"/>
          </a:xfrm>
          <a:custGeom>
            <a:avLst/>
            <a:gdLst/>
            <a:ahLst/>
            <a:cxnLst/>
            <a:rect r="r" b="b" t="t" l="l"/>
            <a:pathLst>
              <a:path h="7894842" w="4174398">
                <a:moveTo>
                  <a:pt x="0" y="0"/>
                </a:moveTo>
                <a:lnTo>
                  <a:pt x="4174398" y="0"/>
                </a:lnTo>
                <a:lnTo>
                  <a:pt x="4174398" y="7894842"/>
                </a:lnTo>
                <a:lnTo>
                  <a:pt x="0" y="7894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77621" y="876300"/>
            <a:ext cx="9462255" cy="135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150"/>
              </a:lnSpc>
              <a:spcBef>
                <a:spcPct val="0"/>
              </a:spcBef>
            </a:pPr>
            <a:r>
              <a:rPr lang="en-US" b="true" sz="7964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Procedimientos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25930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38150" cap="sq">
              <a:solidFill>
                <a:srgbClr val="095D4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6667" y="9863733"/>
            <a:ext cx="17435206" cy="129936"/>
            <a:chOff x="0" y="0"/>
            <a:chExt cx="4591988" cy="34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91988" cy="34222"/>
            </a:xfrm>
            <a:custGeom>
              <a:avLst/>
              <a:gdLst/>
              <a:ahLst/>
              <a:cxnLst/>
              <a:rect r="r" b="b" t="t" l="l"/>
              <a:pathLst>
                <a:path h="34222" w="4591988">
                  <a:moveTo>
                    <a:pt x="0" y="0"/>
                  </a:moveTo>
                  <a:lnTo>
                    <a:pt x="4591988" y="0"/>
                  </a:lnTo>
                  <a:lnTo>
                    <a:pt x="4591988" y="34222"/>
                  </a:lnTo>
                  <a:lnTo>
                    <a:pt x="0" y="34222"/>
                  </a:lnTo>
                  <a:close/>
                </a:path>
              </a:pathLst>
            </a:custGeom>
            <a:solidFill>
              <a:srgbClr val="B0F54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91988" cy="7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50421" y="2126059"/>
            <a:ext cx="16008879" cy="4122286"/>
          </a:xfrm>
          <a:custGeom>
            <a:avLst/>
            <a:gdLst/>
            <a:ahLst/>
            <a:cxnLst/>
            <a:rect r="r" b="b" t="t" l="l"/>
            <a:pathLst>
              <a:path h="4122286" w="16008879">
                <a:moveTo>
                  <a:pt x="0" y="0"/>
                </a:moveTo>
                <a:lnTo>
                  <a:pt x="16008879" y="0"/>
                </a:lnTo>
                <a:lnTo>
                  <a:pt x="16008879" y="4122287"/>
                </a:lnTo>
                <a:lnTo>
                  <a:pt x="0" y="4122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0421" y="6591246"/>
            <a:ext cx="12045126" cy="2790377"/>
          </a:xfrm>
          <a:custGeom>
            <a:avLst/>
            <a:gdLst/>
            <a:ahLst/>
            <a:cxnLst/>
            <a:rect r="r" b="b" t="t" l="l"/>
            <a:pathLst>
              <a:path h="2790377" w="12045126">
                <a:moveTo>
                  <a:pt x="0" y="0"/>
                </a:moveTo>
                <a:lnTo>
                  <a:pt x="12045125" y="0"/>
                </a:lnTo>
                <a:lnTo>
                  <a:pt x="12045125" y="2790376"/>
                </a:lnTo>
                <a:lnTo>
                  <a:pt x="0" y="27903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50421" y="933450"/>
            <a:ext cx="5428909" cy="845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08"/>
              </a:lnSpc>
              <a:spcBef>
                <a:spcPct val="0"/>
              </a:spcBef>
            </a:pPr>
            <a:r>
              <a:rPr lang="en-US" b="true" sz="4934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Presupuesto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38150" cap="sq">
              <a:solidFill>
                <a:srgbClr val="095D4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6667" y="9863733"/>
            <a:ext cx="17435206" cy="129936"/>
            <a:chOff x="0" y="0"/>
            <a:chExt cx="4591988" cy="34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91988" cy="34222"/>
            </a:xfrm>
            <a:custGeom>
              <a:avLst/>
              <a:gdLst/>
              <a:ahLst/>
              <a:cxnLst/>
              <a:rect r="r" b="b" t="t" l="l"/>
              <a:pathLst>
                <a:path h="34222" w="4591988">
                  <a:moveTo>
                    <a:pt x="0" y="0"/>
                  </a:moveTo>
                  <a:lnTo>
                    <a:pt x="4591988" y="0"/>
                  </a:lnTo>
                  <a:lnTo>
                    <a:pt x="4591988" y="34222"/>
                  </a:lnTo>
                  <a:lnTo>
                    <a:pt x="0" y="34222"/>
                  </a:lnTo>
                  <a:close/>
                </a:path>
              </a:pathLst>
            </a:custGeom>
            <a:solidFill>
              <a:srgbClr val="B0F54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91988" cy="7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50421" y="2003234"/>
            <a:ext cx="10329322" cy="6404180"/>
          </a:xfrm>
          <a:custGeom>
            <a:avLst/>
            <a:gdLst/>
            <a:ahLst/>
            <a:cxnLst/>
            <a:rect r="r" b="b" t="t" l="l"/>
            <a:pathLst>
              <a:path h="6404180" w="10329322">
                <a:moveTo>
                  <a:pt x="0" y="0"/>
                </a:moveTo>
                <a:lnTo>
                  <a:pt x="10329321" y="0"/>
                </a:lnTo>
                <a:lnTo>
                  <a:pt x="10329321" y="6404180"/>
                </a:lnTo>
                <a:lnTo>
                  <a:pt x="0" y="6404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0421" y="8659481"/>
            <a:ext cx="7502881" cy="426153"/>
          </a:xfrm>
          <a:custGeom>
            <a:avLst/>
            <a:gdLst/>
            <a:ahLst/>
            <a:cxnLst/>
            <a:rect r="r" b="b" t="t" l="l"/>
            <a:pathLst>
              <a:path h="426153" w="7502881">
                <a:moveTo>
                  <a:pt x="0" y="0"/>
                </a:moveTo>
                <a:lnTo>
                  <a:pt x="7502881" y="0"/>
                </a:lnTo>
                <a:lnTo>
                  <a:pt x="7502881" y="426154"/>
                </a:lnTo>
                <a:lnTo>
                  <a:pt x="0" y="426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50421" y="933450"/>
            <a:ext cx="5428909" cy="845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08"/>
              </a:lnSpc>
              <a:spcBef>
                <a:spcPct val="0"/>
              </a:spcBef>
            </a:pPr>
            <a:r>
              <a:rPr lang="en-US" b="true" sz="4934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Presupuesto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38150" cap="sq">
              <a:solidFill>
                <a:srgbClr val="095D4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6667" y="9863733"/>
            <a:ext cx="17435206" cy="129936"/>
            <a:chOff x="0" y="0"/>
            <a:chExt cx="4591988" cy="34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91988" cy="34222"/>
            </a:xfrm>
            <a:custGeom>
              <a:avLst/>
              <a:gdLst/>
              <a:ahLst/>
              <a:cxnLst/>
              <a:rect r="r" b="b" t="t" l="l"/>
              <a:pathLst>
                <a:path h="34222" w="4591988">
                  <a:moveTo>
                    <a:pt x="0" y="0"/>
                  </a:moveTo>
                  <a:lnTo>
                    <a:pt x="4591988" y="0"/>
                  </a:lnTo>
                  <a:lnTo>
                    <a:pt x="4591988" y="34222"/>
                  </a:lnTo>
                  <a:lnTo>
                    <a:pt x="0" y="34222"/>
                  </a:lnTo>
                  <a:close/>
                </a:path>
              </a:pathLst>
            </a:custGeom>
            <a:solidFill>
              <a:srgbClr val="B0F54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91988" cy="7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623349" y="2011997"/>
            <a:ext cx="11061843" cy="7618844"/>
          </a:xfrm>
          <a:custGeom>
            <a:avLst/>
            <a:gdLst/>
            <a:ahLst/>
            <a:cxnLst/>
            <a:rect r="r" b="b" t="t" l="l"/>
            <a:pathLst>
              <a:path h="7618844" w="11061843">
                <a:moveTo>
                  <a:pt x="0" y="0"/>
                </a:moveTo>
                <a:lnTo>
                  <a:pt x="11061843" y="0"/>
                </a:lnTo>
                <a:lnTo>
                  <a:pt x="11061843" y="7618845"/>
                </a:lnTo>
                <a:lnTo>
                  <a:pt x="0" y="76188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50421" y="933450"/>
            <a:ext cx="6484728" cy="845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08"/>
              </a:lnSpc>
              <a:spcBef>
                <a:spcPct val="0"/>
              </a:spcBef>
            </a:pPr>
            <a:r>
              <a:rPr lang="en-US" b="true" sz="4934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Estructura orgánica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38150" cap="sq">
              <a:solidFill>
                <a:srgbClr val="095D4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6667" y="9863733"/>
            <a:ext cx="17435206" cy="129936"/>
            <a:chOff x="0" y="0"/>
            <a:chExt cx="4591988" cy="34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91988" cy="34222"/>
            </a:xfrm>
            <a:custGeom>
              <a:avLst/>
              <a:gdLst/>
              <a:ahLst/>
              <a:cxnLst/>
              <a:rect r="r" b="b" t="t" l="l"/>
              <a:pathLst>
                <a:path h="34222" w="4591988">
                  <a:moveTo>
                    <a:pt x="0" y="0"/>
                  </a:moveTo>
                  <a:lnTo>
                    <a:pt x="4591988" y="0"/>
                  </a:lnTo>
                  <a:lnTo>
                    <a:pt x="4591988" y="34222"/>
                  </a:lnTo>
                  <a:lnTo>
                    <a:pt x="0" y="34222"/>
                  </a:lnTo>
                  <a:close/>
                </a:path>
              </a:pathLst>
            </a:custGeom>
            <a:solidFill>
              <a:srgbClr val="B0F54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91988" cy="7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853641" y="1952845"/>
            <a:ext cx="10580718" cy="7737150"/>
          </a:xfrm>
          <a:custGeom>
            <a:avLst/>
            <a:gdLst/>
            <a:ahLst/>
            <a:cxnLst/>
            <a:rect r="r" b="b" t="t" l="l"/>
            <a:pathLst>
              <a:path h="7737150" w="10580718">
                <a:moveTo>
                  <a:pt x="0" y="0"/>
                </a:moveTo>
                <a:lnTo>
                  <a:pt x="10580718" y="0"/>
                </a:lnTo>
                <a:lnTo>
                  <a:pt x="10580718" y="7737149"/>
                </a:lnTo>
                <a:lnTo>
                  <a:pt x="0" y="7737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50421" y="933450"/>
            <a:ext cx="6484728" cy="845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08"/>
              </a:lnSpc>
              <a:spcBef>
                <a:spcPct val="0"/>
              </a:spcBef>
            </a:pPr>
            <a:r>
              <a:rPr lang="en-US" b="true" sz="4934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División del trabajo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50411" y="41052"/>
            <a:ext cx="28057905" cy="9097159"/>
            <a:chOff x="0" y="0"/>
            <a:chExt cx="2154348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4348" cy="698500"/>
            </a:xfrm>
            <a:custGeom>
              <a:avLst/>
              <a:gdLst/>
              <a:ahLst/>
              <a:cxnLst/>
              <a:rect r="r" b="b" t="t" l="l"/>
              <a:pathLst>
                <a:path h="698500" w="2154348">
                  <a:moveTo>
                    <a:pt x="2154348" y="349250"/>
                  </a:moveTo>
                  <a:lnTo>
                    <a:pt x="1951148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951148" y="0"/>
                  </a:lnTo>
                  <a:lnTo>
                    <a:pt x="2154348" y="349250"/>
                  </a:lnTo>
                  <a:close/>
                </a:path>
              </a:pathLst>
            </a:custGeom>
            <a:solidFill>
              <a:srgbClr val="AEEA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150411" y="-291739"/>
            <a:ext cx="28057905" cy="9097159"/>
            <a:chOff x="0" y="0"/>
            <a:chExt cx="2154348" cy="698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4348" cy="698500"/>
            </a:xfrm>
            <a:custGeom>
              <a:avLst/>
              <a:gdLst/>
              <a:ahLst/>
              <a:cxnLst/>
              <a:rect r="r" b="b" t="t" l="l"/>
              <a:pathLst>
                <a:path h="698500" w="2154348">
                  <a:moveTo>
                    <a:pt x="2154348" y="349250"/>
                  </a:moveTo>
                  <a:lnTo>
                    <a:pt x="1951148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951148" y="0"/>
                  </a:lnTo>
                  <a:lnTo>
                    <a:pt x="2154348" y="349250"/>
                  </a:lnTo>
                  <a:close/>
                </a:path>
              </a:pathLst>
            </a:custGeom>
            <a:blipFill>
              <a:blip r:embed="rId2"/>
              <a:stretch>
                <a:fillRect l="0" t="-52840" r="0" b="-528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768068" y="-683741"/>
            <a:ext cx="15618751" cy="4940582"/>
            <a:chOff x="0" y="0"/>
            <a:chExt cx="1871574" cy="5920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1574" cy="592023"/>
            </a:xfrm>
            <a:custGeom>
              <a:avLst/>
              <a:gdLst/>
              <a:ahLst/>
              <a:cxnLst/>
              <a:rect r="r" b="b" t="t" l="l"/>
              <a:pathLst>
                <a:path h="592023" w="1871574">
                  <a:moveTo>
                    <a:pt x="1871574" y="296012"/>
                  </a:moveTo>
                  <a:lnTo>
                    <a:pt x="1668374" y="592023"/>
                  </a:lnTo>
                  <a:lnTo>
                    <a:pt x="203200" y="592023"/>
                  </a:lnTo>
                  <a:lnTo>
                    <a:pt x="0" y="296012"/>
                  </a:lnTo>
                  <a:lnTo>
                    <a:pt x="203200" y="0"/>
                  </a:lnTo>
                  <a:lnTo>
                    <a:pt x="1668374" y="0"/>
                  </a:lnTo>
                  <a:lnTo>
                    <a:pt x="1871574" y="296012"/>
                  </a:lnTo>
                  <a:close/>
                </a:path>
              </a:pathLst>
            </a:custGeom>
            <a:solidFill>
              <a:srgbClr val="095D40"/>
            </a:solidFill>
            <a:ln cap="sq" w="12700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4855610"/>
            <a:ext cx="5641459" cy="3608787"/>
            <a:chOff x="0" y="0"/>
            <a:chExt cx="1485816" cy="9504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85816" cy="950462"/>
            </a:xfrm>
            <a:custGeom>
              <a:avLst/>
              <a:gdLst/>
              <a:ahLst/>
              <a:cxnLst/>
              <a:rect r="r" b="b" t="t" l="l"/>
              <a:pathLst>
                <a:path h="950462" w="1485816">
                  <a:moveTo>
                    <a:pt x="0" y="0"/>
                  </a:moveTo>
                  <a:lnTo>
                    <a:pt x="1485816" y="0"/>
                  </a:lnTo>
                  <a:lnTo>
                    <a:pt x="1485816" y="950462"/>
                  </a:lnTo>
                  <a:lnTo>
                    <a:pt x="0" y="950462"/>
                  </a:lnTo>
                  <a:close/>
                </a:path>
              </a:pathLst>
            </a:custGeom>
            <a:solidFill>
              <a:srgbClr val="095D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85816" cy="988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8550122"/>
            <a:ext cx="5641459" cy="66675"/>
            <a:chOff x="0" y="0"/>
            <a:chExt cx="1485816" cy="17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85816" cy="17560"/>
            </a:xfrm>
            <a:custGeom>
              <a:avLst/>
              <a:gdLst/>
              <a:ahLst/>
              <a:cxnLst/>
              <a:rect r="r" b="b" t="t" l="l"/>
              <a:pathLst>
                <a:path h="17560" w="1485816">
                  <a:moveTo>
                    <a:pt x="0" y="0"/>
                  </a:moveTo>
                  <a:lnTo>
                    <a:pt x="1485816" y="0"/>
                  </a:lnTo>
                  <a:lnTo>
                    <a:pt x="1485816" y="17560"/>
                  </a:lnTo>
                  <a:lnTo>
                    <a:pt x="0" y="17560"/>
                  </a:lnTo>
                  <a:close/>
                </a:path>
              </a:pathLst>
            </a:custGeom>
            <a:solidFill>
              <a:srgbClr val="095D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85816" cy="55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40586" y="4855610"/>
            <a:ext cx="5641459" cy="3608787"/>
            <a:chOff x="0" y="0"/>
            <a:chExt cx="1485816" cy="9504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85816" cy="950462"/>
            </a:xfrm>
            <a:custGeom>
              <a:avLst/>
              <a:gdLst/>
              <a:ahLst/>
              <a:cxnLst/>
              <a:rect r="r" b="b" t="t" l="l"/>
              <a:pathLst>
                <a:path h="950462" w="1485816">
                  <a:moveTo>
                    <a:pt x="0" y="0"/>
                  </a:moveTo>
                  <a:lnTo>
                    <a:pt x="1485816" y="0"/>
                  </a:lnTo>
                  <a:lnTo>
                    <a:pt x="1485816" y="950462"/>
                  </a:lnTo>
                  <a:lnTo>
                    <a:pt x="0" y="950462"/>
                  </a:lnTo>
                  <a:close/>
                </a:path>
              </a:pathLst>
            </a:custGeom>
            <a:solidFill>
              <a:srgbClr val="095D4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85816" cy="988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940586" y="8550122"/>
            <a:ext cx="5641459" cy="66675"/>
            <a:chOff x="0" y="0"/>
            <a:chExt cx="1485816" cy="17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85816" cy="17560"/>
            </a:xfrm>
            <a:custGeom>
              <a:avLst/>
              <a:gdLst/>
              <a:ahLst/>
              <a:cxnLst/>
              <a:rect r="r" b="b" t="t" l="l"/>
              <a:pathLst>
                <a:path h="17560" w="1485816">
                  <a:moveTo>
                    <a:pt x="0" y="0"/>
                  </a:moveTo>
                  <a:lnTo>
                    <a:pt x="1485816" y="0"/>
                  </a:lnTo>
                  <a:lnTo>
                    <a:pt x="1485816" y="17560"/>
                  </a:lnTo>
                  <a:lnTo>
                    <a:pt x="0" y="17560"/>
                  </a:lnTo>
                  <a:close/>
                </a:path>
              </a:pathLst>
            </a:custGeom>
            <a:solidFill>
              <a:srgbClr val="095D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85816" cy="55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3648" y="484990"/>
            <a:ext cx="10761077" cy="234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70"/>
              </a:lnSpc>
              <a:spcBef>
                <a:spcPct val="0"/>
              </a:spcBef>
            </a:pPr>
            <a:r>
              <a:rPr lang="en-US" b="true" sz="13764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Cargo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4673" y="5305322"/>
            <a:ext cx="5109514" cy="312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CEO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Ingenier</a:t>
            </a: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o en Sistemas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Desarrollador Full Stack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Administrador de Bases de Datos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Analista Web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Community Manager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Consultor SEO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Contador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Especialista en Finanzas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Especialista en Recursos Humanos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96446" y="4860626"/>
            <a:ext cx="4013275" cy="390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1"/>
              </a:lnSpc>
              <a:spcBef>
                <a:spcPct val="0"/>
              </a:spcBef>
            </a:pPr>
            <a:r>
              <a:rPr lang="en-US" b="true" sz="2000" spc="6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Descripción del cargo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06559" y="4860626"/>
            <a:ext cx="4699075" cy="390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1"/>
              </a:lnSpc>
              <a:spcBef>
                <a:spcPct val="0"/>
              </a:spcBef>
            </a:pPr>
            <a:r>
              <a:rPr lang="en-US" b="true" sz="2000" spc="6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Descripción de la función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06559" y="5305322"/>
            <a:ext cx="5109514" cy="312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CEO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Ingenier</a:t>
            </a: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o en Sistemas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Desarrollador Full Stack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Administrador de Bases de Datos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Analista Web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Community Manager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Consultor SEO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Contador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Especialista en Finanzas</a:t>
            </a:r>
          </a:p>
          <a:p>
            <a:pPr algn="l" marL="324922" indent="-162461" lvl="1">
              <a:lnSpc>
                <a:spcPts val="2483"/>
              </a:lnSpc>
              <a:buFont typeface="Arial"/>
              <a:buChar char="•"/>
            </a:pPr>
            <a:r>
              <a:rPr lang="en-US" sz="1504" spc="4" strike="noStrike" u="non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Especialista en Recursos Humanos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5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05181">
            <a:off x="13828538" y="-922393"/>
            <a:ext cx="7908103" cy="16314940"/>
            <a:chOff x="0" y="0"/>
            <a:chExt cx="2082792" cy="4296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792" cy="4296939"/>
            </a:xfrm>
            <a:custGeom>
              <a:avLst/>
              <a:gdLst/>
              <a:ahLst/>
              <a:cxnLst/>
              <a:rect r="r" b="b" t="t" l="l"/>
              <a:pathLst>
                <a:path h="4296939" w="2082792">
                  <a:moveTo>
                    <a:pt x="0" y="0"/>
                  </a:moveTo>
                  <a:lnTo>
                    <a:pt x="2082792" y="0"/>
                  </a:lnTo>
                  <a:lnTo>
                    <a:pt x="2082792" y="4296939"/>
                  </a:lnTo>
                  <a:lnTo>
                    <a:pt x="0" y="429693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82792" cy="4335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77621" y="876300"/>
            <a:ext cx="12999500" cy="134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10"/>
              </a:lnSpc>
              <a:spcBef>
                <a:spcPct val="0"/>
              </a:spcBef>
            </a:pPr>
            <a:r>
              <a:rPr lang="en-US" b="true" sz="7864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Políticas de contratación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7621" y="2596537"/>
            <a:ext cx="7025219" cy="663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4"/>
              </a:lnSpc>
            </a:pPr>
            <a:r>
              <a:rPr lang="en-US" sz="2299" spc="6" b="true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CAPÍ</a:t>
            </a:r>
            <a:r>
              <a:rPr lang="en-US" sz="2299" spc="6" b="true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TULO I: Disposiciones Generales</a:t>
            </a:r>
          </a:p>
          <a:p>
            <a:pPr algn="l" marL="496569" indent="-248284" lvl="1">
              <a:lnSpc>
                <a:spcPts val="3794"/>
              </a:lnSpc>
              <a:buFont typeface="Arial"/>
              <a:buChar char="•"/>
            </a:pPr>
            <a:r>
              <a:rPr lang="en-US" b="true" sz="22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Artículo 1: Objeto y Alcance</a:t>
            </a:r>
          </a:p>
          <a:p>
            <a:pPr algn="l" marL="496569" indent="-248284" lvl="1">
              <a:lnSpc>
                <a:spcPts val="3794"/>
              </a:lnSpc>
              <a:buFont typeface="Arial"/>
              <a:buChar char="•"/>
            </a:pPr>
            <a:r>
              <a:rPr lang="en-US" b="true" sz="22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Ar</a:t>
            </a:r>
            <a:r>
              <a:rPr lang="en-US" b="true" sz="22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tículo 2: Principios Rectores</a:t>
            </a:r>
          </a:p>
          <a:p>
            <a:pPr algn="l">
              <a:lnSpc>
                <a:spcPts val="3794"/>
              </a:lnSpc>
            </a:pPr>
            <a:r>
              <a:rPr lang="en-US" sz="2299" spc="6" b="true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CAPÍTULO II: Proceso de Selección</a:t>
            </a:r>
          </a:p>
          <a:p>
            <a:pPr algn="l" marL="496569" indent="-248284" lvl="1">
              <a:lnSpc>
                <a:spcPts val="3794"/>
              </a:lnSpc>
              <a:buFont typeface="Arial"/>
              <a:buChar char="•"/>
            </a:pPr>
            <a:r>
              <a:rPr lang="en-US" b="true" sz="22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</a:t>
            </a:r>
            <a:r>
              <a:rPr lang="en-US" b="true" sz="22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rtículo 3: Etapas del Proceso de Contratación</a:t>
            </a:r>
          </a:p>
          <a:p>
            <a:pPr algn="l" marL="496569" indent="-248284" lvl="1">
              <a:lnSpc>
                <a:spcPts val="3794"/>
              </a:lnSpc>
              <a:buFont typeface="Arial"/>
              <a:buChar char="•"/>
            </a:pPr>
            <a:r>
              <a:rPr lang="en-US" b="true" sz="22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Artículo 4: Requisitos Mínimos de Contratación</a:t>
            </a:r>
          </a:p>
          <a:p>
            <a:pPr algn="l">
              <a:lnSpc>
                <a:spcPts val="3794"/>
              </a:lnSpc>
            </a:pPr>
            <a:r>
              <a:rPr lang="en-US" sz="2299" spc="6" b="true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CAPÍTULO III: Tipos de Contratación</a:t>
            </a:r>
          </a:p>
          <a:p>
            <a:pPr algn="l" marL="496569" indent="-248284" lvl="1">
              <a:lnSpc>
                <a:spcPts val="3794"/>
              </a:lnSpc>
              <a:buFont typeface="Arial"/>
              <a:buChar char="•"/>
            </a:pPr>
            <a:r>
              <a:rPr lang="en-US" b="true" sz="22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Artículo 5: Modalidades Contractuales</a:t>
            </a:r>
          </a:p>
          <a:p>
            <a:pPr algn="l" marL="496569" indent="-248284" lvl="1">
              <a:lnSpc>
                <a:spcPts val="3794"/>
              </a:lnSpc>
              <a:buFont typeface="Arial"/>
              <a:buChar char="•"/>
            </a:pPr>
            <a:r>
              <a:rPr lang="en-US" b="true" sz="22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Artículo 6: Condiciones Laborales</a:t>
            </a:r>
          </a:p>
          <a:p>
            <a:pPr algn="l">
              <a:lnSpc>
                <a:spcPts val="3794"/>
              </a:lnSpc>
            </a:pPr>
            <a:r>
              <a:rPr lang="en-US" sz="2299" spc="6" b="true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CAPÍ</a:t>
            </a:r>
            <a:r>
              <a:rPr lang="en-US" sz="2299" spc="6" b="true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TULO IV: Evaluación y Seguimiento</a:t>
            </a:r>
          </a:p>
          <a:p>
            <a:pPr algn="l" marL="496569" indent="-248284" lvl="1">
              <a:lnSpc>
                <a:spcPts val="3794"/>
              </a:lnSpc>
              <a:buFont typeface="Arial"/>
              <a:buChar char="•"/>
            </a:pPr>
            <a:r>
              <a:rPr lang="en-US" b="true" sz="22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Artículo 7: Período de Prueba</a:t>
            </a:r>
          </a:p>
          <a:p>
            <a:pPr algn="l" marL="496569" indent="-248284" lvl="1">
              <a:lnSpc>
                <a:spcPts val="3794"/>
              </a:lnSpc>
              <a:buFont typeface="Arial"/>
              <a:buChar char="•"/>
            </a:pPr>
            <a:r>
              <a:rPr lang="en-US" b="true" sz="2299" spc="6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Artículo 8: Evaluación de Desempeño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25930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5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05181">
            <a:off x="11739826" y="-799267"/>
            <a:ext cx="7908103" cy="16314940"/>
            <a:chOff x="0" y="0"/>
            <a:chExt cx="2082792" cy="4296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792" cy="4296939"/>
            </a:xfrm>
            <a:custGeom>
              <a:avLst/>
              <a:gdLst/>
              <a:ahLst/>
              <a:cxnLst/>
              <a:rect r="r" b="b" t="t" l="l"/>
              <a:pathLst>
                <a:path h="4296939" w="2082792">
                  <a:moveTo>
                    <a:pt x="0" y="0"/>
                  </a:moveTo>
                  <a:lnTo>
                    <a:pt x="2082792" y="0"/>
                  </a:lnTo>
                  <a:lnTo>
                    <a:pt x="2082792" y="4296939"/>
                  </a:lnTo>
                  <a:lnTo>
                    <a:pt x="0" y="429693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82792" cy="4335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77621" y="1661643"/>
            <a:ext cx="8323332" cy="134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10"/>
              </a:lnSpc>
              <a:spcBef>
                <a:spcPct val="0"/>
              </a:spcBef>
            </a:pPr>
            <a:r>
              <a:rPr lang="en-US" b="true" sz="7864" strike="noStrike" u="none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Muchas Gracias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25930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2354" y="-87800"/>
            <a:ext cx="6391912" cy="10785886"/>
            <a:chOff x="0" y="0"/>
            <a:chExt cx="1683467" cy="2840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3467" cy="2840727"/>
            </a:xfrm>
            <a:custGeom>
              <a:avLst/>
              <a:gdLst/>
              <a:ahLst/>
              <a:cxnLst/>
              <a:rect r="r" b="b" t="t" l="l"/>
              <a:pathLst>
                <a:path h="2840727" w="1683467">
                  <a:moveTo>
                    <a:pt x="0" y="0"/>
                  </a:moveTo>
                  <a:lnTo>
                    <a:pt x="1683467" y="0"/>
                  </a:lnTo>
                  <a:lnTo>
                    <a:pt x="1683467" y="2840727"/>
                  </a:lnTo>
                  <a:lnTo>
                    <a:pt x="0" y="2840727"/>
                  </a:lnTo>
                  <a:close/>
                </a:path>
              </a:pathLst>
            </a:custGeom>
            <a:solidFill>
              <a:srgbClr val="095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83467" cy="2878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6837" y="1116282"/>
            <a:ext cx="4983862" cy="109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10"/>
              </a:lnSpc>
              <a:spcBef>
                <a:spcPct val="0"/>
              </a:spcBef>
            </a:pPr>
            <a:r>
              <a:rPr lang="en-US" b="true" sz="6364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Referencias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57303" y="1211532"/>
            <a:ext cx="10801997" cy="852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authorsalutation:, authorfirstname:EY, authorlastname:Colombia, authorjobtitle:Organización multidisciplinaria de servicios profesionales, authorurl:https://www.ey.com/es_co/people/ey-colombia. (s. f.). Reforma Laboral 2025 en Colombia: cambios clave y obligaciones para las empresas. EY – Colombia https://www.ey.com/es_co/insights/tax/reforma-laboral-2025-colombia-cambios-obligaciones-empresas 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Garcia, L. F. V., &amp; Garcia, L. F. V. (2025, 9 octubre). Actualización del reglamento interno de trabajo 2025. Actualícese |. https://actualicese.com/reglamento-interno-de-trabajo-lo-que-cambia-en-procedimientos-disciplinarios-jornadas-y-contratos/ 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Corvo, H. S. (2022, 24 agosto). Organización administrativa. Lifeder. https://www.lifeder.com/organizacion-administrativa/ 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Principios de la organización para la gestión empresarial. (s. f.). AtlasGov. https://welcome.atlasgov.com/es/blog/gestion/principios-de-la-organizacion/ 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Gestor normativo - EVA - Función pública. (s. f.-b). https://www1.funcionpublica.gov.co/web/eva/gestor-normativo 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ISO/IEC 27001:2022/AMD 1:2024. (2024, 1 agosto). ISO. https://www.iso.org/es/contents/data/standard/08/84/88435.html 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ISO 9001:2015/AMD 1:2024. (2024, 1 agosto). ISO. https://www.iso.org/es/contents/data/standard/08/84/88431.html 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ISO/IEC TS 20000-16:2025. (s. f.). ISO. https://www.iso.org/es/contents/data/standard/08/71/87192.html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2354" y="-87800"/>
            <a:ext cx="6391912" cy="10785886"/>
            <a:chOff x="0" y="0"/>
            <a:chExt cx="1683467" cy="2840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3467" cy="2840727"/>
            </a:xfrm>
            <a:custGeom>
              <a:avLst/>
              <a:gdLst/>
              <a:ahLst/>
              <a:cxnLst/>
              <a:rect r="r" b="b" t="t" l="l"/>
              <a:pathLst>
                <a:path h="2840727" w="1683467">
                  <a:moveTo>
                    <a:pt x="0" y="0"/>
                  </a:moveTo>
                  <a:lnTo>
                    <a:pt x="1683467" y="0"/>
                  </a:lnTo>
                  <a:lnTo>
                    <a:pt x="1683467" y="2840727"/>
                  </a:lnTo>
                  <a:lnTo>
                    <a:pt x="0" y="2840727"/>
                  </a:lnTo>
                  <a:close/>
                </a:path>
              </a:pathLst>
            </a:custGeom>
            <a:solidFill>
              <a:srgbClr val="095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83467" cy="2878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60590" y="1233359"/>
            <a:ext cx="4983862" cy="109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10"/>
              </a:lnSpc>
              <a:spcBef>
                <a:spcPct val="0"/>
              </a:spcBef>
            </a:pPr>
            <a:r>
              <a:rPr lang="en-US" b="true" sz="6364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Referencias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94179" y="1809754"/>
            <a:ext cx="11433230" cy="779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Guevara, J. E. (2023, 13 abril). Normas ISO en Colombia: cuáles son y por qué son importantes. Encolombia.com | Plataforma de Comunicación Digital. https://encolombia.com/economia/empresas/normas-iso-en-colombia/ 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ISO - Tecnologías de la información y afines. (s. f.). ISO. https://www.iso.org/es/sectores/tecnologias-ti 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Políticas de seguridad de la información y protección de datos personales. (s. f.). Cámara de Representantes. https://www.camara.gov.co/politicas-de-seguridad-de-la-informacion-y-proteccion-de-datos-personales 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Políticas de seguridad de la información y protección de datos personales. (s. f.-b). https://www.unp.gov.co/normativa/politicas-de-seguridad-de-la-informacion-y-proteccion-de-datos-personales/ 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 Salud y Protección Social de Colombia, M. (s. f.). Legislación laboral en Colombia. https://www.minsalud.gov.co/trabajoEmpleo/Paginas/legislaci%C3%B3nlaboralenColombia.aspx 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Admin. (2025, 3 marzo). Normatividad en seguridad y salud en el trabajo 2024. SafetYA®. https://safetya.co/normatividad-en-seguridad-y-salud-en-el-trabajo/ 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Castro, E. B. (s. f.). Reforma Laboral 2025 en Colombia: principales cambios. PwC. https://www.pwc.com/co/es/pwc-insights/reforma-laboral-2025-en-colombia-principales-cambios.html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DAG2ry0S9cA</dc:identifier>
  <dcterms:modified xsi:type="dcterms:W3CDTF">2011-08-01T06:04:30Z</dcterms:modified>
  <cp:revision>1</cp:revision>
  <dc:title>Presentacion de Administracion</dc:title>
</cp:coreProperties>
</file>